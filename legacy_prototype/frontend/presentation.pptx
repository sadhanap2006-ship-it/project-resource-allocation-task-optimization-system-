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05840"/>
            <a:ext cx="548640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Segoe UI"/>
              </a:defRPr>
            </a:pPr>
            <a:r>
              <a:t>SATHYABAMA INSTITUTE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Project Resource Allocation System</a:t>
            </a:r>
          </a:p>
          <a:p>
            <a:pPr>
              <a:spcBef>
                <a:spcPts val="800"/>
              </a:spcBef>
              <a:defRPr sz="1600">
                <a:solidFill>
                  <a:srgbClr val="4F46E5"/>
                </a:solidFill>
                <a:latin typeface="Segoe UI"/>
              </a:defRPr>
            </a:pPr>
            <a:r>
              <a:t>Intelligent Full-Stack Workload Balancing &amp; Predictive Budget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03320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51206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512064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224528"/>
            <a:ext cx="4608575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Sadhana Prakash (Project Lead)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Full-Stack Architecture &amp; Engine Implementation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Register No: 44731071 • Section 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1206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4224528"/>
            <a:ext cx="4608575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V S Sujithraa (Project Partner)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Database Design &amp; System Verification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Register No: 44731091 • Section 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Department of Computer Science &amp; Engineering (Artificial Intelligence) • 3rd Year • Batch 2024–2028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02. Introduction &amp; Industry Domain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Enterprise IT Resource Management &amp; Staffing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12064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Enterprise IT Landscape &amp; Dynamics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Effective staffing is the primary determinant of on-time software project delivery.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Modern software organizations manage concurrent microservices and client projects with strict deadlines.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Engineering human capital accounts for 70%+ of overall enterprise software development expenditures.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Engineers and tech leads are shared across projects, requiring precise capacity coordination to prevent burnout.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Uncoordinated scheduling directly drives milestone slippage, team attrition, and severe budget overruns.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206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Core Mission of the System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Eliminate chaotic spreadsheet-based tracking with a high-performance centralized platform.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Over-Allocation: Enforce strict 100% capacity ceilings across all concurrent milestone schedules.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Proactive Warning System: Automatically identify leave overlaps and missing developer skill sets.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Predictive Intelligence: Forecast project budget exhaustion dates via linear burn-down analysis.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Self-Service Visibility: Provide direct personal portals for engineers to inspect active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03. Problem Statement &amp; Real-World Inefficiencies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Core Operational Bottlenecks in Manual Resource 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4297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Invisible Over-Allocation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Managers book developers independently without cross-project calendar awareness.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Individual peak workloads silently reach 120% to 150%.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Fatigued developers produce code defects and miss critical delivery deadlines.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Overload is detected only after milestones fail.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42976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Disconnected Leave Management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Approved employee vacation records stay locked in isolated HR administrative portals.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Milestones are scheduled during developer absences without system warning.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Sprint workflows freeze unexpectedly mid-deliverable.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Scrambling for emergency substitute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4297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Sudden Budget Depletion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Project financial spend is reviewed retrospectively at the end of billing cycles.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Senior developer hourly rates burn capital faster than static estimates projected.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automated linear exhaustion date warning.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Management faces sudden budget shortfalls.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04. Existing System &amp; Inherent Bottlenecks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Why Disconnected Spreadsheets &amp; Manual Tools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12064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Limitations of Spreadsheet Management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Manual Data Maintenance: Records are maintained manually and prone to human typographic errors.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Real-Time Validation: A spreadsheet cell accepts 200% workload without throwing any validation error.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Version Desynchronization: Multiple disconnected workbooks circulate over email with conflicting data.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No Algorithmic Intelligence: Static sheets cannot perform in-memory what-if simulations or automated sweeps.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2064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Measurable Real-World Consequences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35% Project Delivery Slippage: Directly attributed to unforeseen developer bandwidth bottlenecks.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20% Cost Escalation: Caused by unchecked burn rates and unmonitored hourly billing accumulations.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Developer Visibility: Engineers must manually ask managers what tasks they are assigned each week.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Substantial Administrative Overhead: Hours wasted weekly reconciling conflicting spreadsheets.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05. Proposed Centralized Solution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An Intelligent, Real-Time 3-Tier Web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Automated Sweep-Line Algorithm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Evaluates daily boundary points to detect exact peak workload over-allocations (&gt;100%).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Instantly surfaces overlapping milestone clashes and leave conflicts.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In-Memory What-If Simulator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Enables project managers to test candidate developer swaps without altering production database.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Calculates cost impact, schedule shift, and skill suitability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Dual-Portal Workspaces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Dedicated Executive Manager view for cross-project governance and budget tracking.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Streamlined Employee portal accessed via unique Employee ID for instant task clarity.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83480"/>
            <a:ext cx="10561320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983480"/>
            <a:ext cx="10561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84648"/>
            <a:ext cx="10049256" cy="960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Strategic Architectural Shift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Transitions engineering management from reactive firefighting (finding out a milestone failed after the deadline) to proactive automated capacity optimization before work starts.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06. Project Objectives (SMART Goals)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Specific, Measurable, Achievable, Relevant &amp; Time-Bound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423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4231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148840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Conflict Elimination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Zero undetected double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74519"/>
            <a:ext cx="2423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4231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2148840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4F46E5"/>
                </a:solidFill>
                <a:latin typeface="Segoe UI"/>
              </a:defRPr>
            </a:pPr>
            <a:r>
              <a:t>&lt; 50ms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REST API Latency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Sub-second real-time responsiveness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2423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24231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2148840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4F46E5"/>
                </a:solidFill>
                <a:latin typeface="Segoe UI"/>
              </a:defRPr>
            </a:pPr>
            <a:r>
              <a:t>13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3NF Relational Tables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Normalized ACID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874519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874519"/>
            <a:ext cx="24688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057400"/>
            <a:ext cx="2194560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1-Click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Windows Execution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Zero-configuration run.bat 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10561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56132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87368"/>
            <a:ext cx="1004925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Detailed Academic Objectives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Specific: Centralize developer allocations, milestones, leave schedules, and project budgets into one system.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Measurable: Predict exact budget exhaustion dates mathematically through linear burn-down regressions.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Achievable: Pure Java SE &amp; JDBC backend eliminates framework bloat for transparent viva defense.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Relevant: Directly resolves prevalent staffing bottlenecks in modern software engineering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07. Key Functional Features Implemented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Comprehensive Enterprise Capability Matrix &amp; 14 Dedicated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Executive Overview &amp; 14 Views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Live KPI metrics, 14 dedicated views, budget burn-down preview, and unified enterprise terminology.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Daily Sweep-Line Conflict Detection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High-performance interval overlap algorithm detecting over-allocations (&gt;100%), leave overlaps, and skill gaps.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What-if Simulator &amp; Pure Java PDF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In-memory candidate evaluation predicting cost deltas, delivery timeline shifts, and zero-dependency PDF report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333756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361688"/>
            <a:ext cx="28254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Resource Utilization Heatmap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Monthly developer capacity matrix color-coded (&lt;50%, 50-85%, 86-100%, &gt;100%) for rapid rebalancing.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16052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4160520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4361688"/>
            <a:ext cx="28254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Timeline &amp; Planned Leave Tracking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Milestone schedule across date ranges, separating planned leaves (0% capacity) from base resource availability.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6052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160520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4361688"/>
            <a:ext cx="28254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Developer Dashboard / Personal Portal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Dedicated portal accessed simply via Developer ID or login, displaying personal workload and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08. Technology Stack Specification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Clean, Transparent and Defensible Enterprise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Tier 1: Frontend Client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HTML5 &amp; Modern CSS3: Semantic tags, modern Grid/Flexbox design system, zero external CSS bloat.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ES6+ JavaScript: Asynchronous Fetch API, DOM manipulation, clean controllers.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14 Dedicated Views: Overview, Projects, Resources, Heatmap, Timeline, etc.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Chart.js: Strictly for project budget burn-down visualization.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4297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Tier 2: Backend Engine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Pure Java SE 17+: com.sun.net.httpserver lightweight web server.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Decoupled DTO Layer: 19 dedicated request &amp; response DTOs under backend/src/dto/.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Framework Bloat: Runs directly without Spring Boot, JPA, or Maven overhead.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Pure Java PDF Writer: Binary standard PDF 1.4 documents from scratch without external JARs.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Tier 3: Relational Database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MySQL 8.0: Robust relational database running on standard port 3306.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Type-4 JDBC Driver: Official mysql-connector-j-8.3.0.jar with UTF-8 encoding.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PreparedStatement: 100% parameterized queries for SQL injection immunity.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14 Normalized Tables in 3NF: Added budget_transactions with utf8mb4 charset.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09. 3-Tier System Architecture &amp; Data Flow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Multi-Port Separation of Concerns &amp; Clean Layering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Tier 1: Client Web Application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Port: 8080 (Served via embedded static router)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Technology: HTML5, CSS3, ES6+ JavaScript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Views: 14 Dedicated Views, unified terminology, word-level skill pills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468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Tier 2: Backend REST Engine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Port: 8080 (REST API /api/*)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Technology: Pure Java SE HttpServer + DTO Layer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Role: Business logic, sweep-line conflict detection, pure Java PDF generator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Tier 3: MySQL Database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Port: 3306 (TCP/IP JDBC connection, utf8mb4)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Technology: MySQL 8.0 Community Server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Role: 14 normalized 3NF tables, foreign key constraints, ACID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10561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10561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773168"/>
            <a:ext cx="10049256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Architectural Design Highlights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Unified Origin on Port 8080: Eliminates cross-origin CORS pre-flight complexity.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Decoupled Presentation: Frontend communicates purely via asynchronous JSON REST payloads and DTOs.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Socket Hangs: Explicit HTTP response handling on every branch with graceful error payloads.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10. Application Modules Breakdown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Clean Single-Responsibility Subsystem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12064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Administrative &amp; Data Modules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Authentication &amp; Session Module: Supports dual-portal access (Manager credentials vs Developer ID).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Project Management Module: Manages project budgets, expenditures, milestones, and lifecycle status.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Decoupled DTO Layer: 19 request &amp; response DTOs mapping database entities to secure API payloads.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Resource Allocation Module: Records developer assignments, workload percentages, and hourly rates.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Availability Service: Separates planned leaves (0% capacity) from baseline availability adjustments.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206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Intelligent Algorithmic Modules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Conflict Detection Engine: Daily sweep-line algorithm flagging &gt;100% capacity overruns and leave overlaps.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What-if Simulation Engine: In-memory candidate evaluator predicting cost and delivery schedule deltas.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Pure Java PDF Generator: Zero-dependency binary PDF 1.4 byte stream builder for executive audit reports.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Budget Forecaster &amp; Ledger: Computes daily burn rates over a rolling 30-day window to predict exhaustion.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Notification Engine: Dispatches live system alerts with dynamic counter in the navigation bar.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11. Database Design (3NF Normalization)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14 Relational Tables with Referential Integrity &amp;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61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2286000"/>
                <a:gridCol w="43434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Purpose &amp; Constraints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role_id -&gt;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User credentials, hashed password, role mappings.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user_id -&gt;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 profiles, hourly billing rate, active status, skills.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created_by -&gt;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Project metadata, total budget, current spend, timelines.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project_id -&gt;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Deliverable phases, estimated effort hours, completion status.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developer_id, milestone_id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Assignment records with allocation % (1 to 100).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developer_skills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(dev_id, skill_id)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dev_id, skill_id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Composite PK mapping competencies to developers.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developer_id -&gt; developers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Approved developer planned leaves and unavailable intervals.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budget_transactions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 (INT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project_id -&gt;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Ledger records for rolling 30-day window burn rate analytics.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12. Data Flow Diagrams (DFD Level 0 &amp; 1)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Contextual &amp; Process-Level Functional Data Transformations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12064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DFD Level 0: Context Diagram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External Entities: Project Manager &amp; Employee / Developer.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Manager Inputs: Project budgets, milestone schedules, developer allocation percentages.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System Outputs: Real-time conflict alerts, budget burn-down forecast charts, utilization heatmaps.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Employee Inputs: Employee ID login, leave scheduling requests.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System Outputs: Assigned deliverables, workload breakdown, remaining bandwidth.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206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DFD Level 1: Process Decomposition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Process 1.0 (Authentication): Verifies credentials -&gt; establishes active session state.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Process 2.0 (Allocation Validation): Enforces capacity limits -&gt; writes to allocations table.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Process 3.0 (Conflict Sweep): Analyzes date intervals -&gt; generates conflict warnings.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Process 4.0 (Budget Forecasting): Evaluates burn rates -&gt; projects exhaustion date.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Process 5.0 (Simulation Engine): Tests what-if reassignments in memory -&gt; returns impact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13. End-to-End User Journey &amp; Workflow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Step-by-Step Practical Application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51460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00253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Step 1: Definition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Manager configures project budget, duration, and creates milestones with required skill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74519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51460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075688"/>
            <a:ext cx="200253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Step 2: Assignment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Manager selects a developer and sets allocation percentage; live capacity preview verifies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251460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075688"/>
            <a:ext cx="200253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Step 3: Alerting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System automatically flags capacity overruns (&gt;100%), leave overlaps, or missing skill competencies.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874519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874519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2075688"/>
            <a:ext cx="200253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Step 4: Resolution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Manager runs What-If Simulator to find an optimal candidate substitute and applies the change cleanly.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83480"/>
            <a:ext cx="10561320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983480"/>
            <a:ext cx="1056132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184648"/>
            <a:ext cx="10049256" cy="960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Developer Self-Service Experience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Developers enter their Employee ID (1 through 5) to directly access their assigned deliverables, deadlines, and personal workload bandwidth without needing administrative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14. Frontend Interface &amp; Responsive Views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Modern Vanilla HTML5 &amp; CSS3 Design System with 14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14 Dedicated Enterprise Views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Complete views: Overview, Projects, Project Detail, Resources, Allocation Matrix, Timeline, Heatmap, Leave &amp; Availability, Conflict Center, Budget Forecast, What-if Simulator, Developer Dashboard, Notifications Center, and Dual Login.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Smooth client-side tab switching without browser reloads.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Unified Enterprise Terminology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Strictly standardized terms: Resources, Developer Login, Timeline, Resource Utilization Heatmap, Conflict Center, What-if Simulator, and + Add Milestone.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legacy terms or ambiguous labels across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Clean Typography &amp; Word Skill Tags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Antialiased Inter Google Font typography with fallback.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Flexbox .skills-container with word-level pill badges ([React], [REST API]) eliminating character splitting.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Automatic reflow from 4 columns to 1 column on mobile.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83480"/>
            <a:ext cx="10561320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983480"/>
            <a:ext cx="10561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84648"/>
            <a:ext cx="10049256" cy="960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Pure Vanilla Performance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Built entirely with custom CSS3 Grid &amp; Flexbox without bloated external CSS frameworks. Delivers sub-20ms instant interaction, sub-100ms load times, and complete code maintainability.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15. Java Backend Engine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Layered Controller ➔ Service ➔ DTO ➔ DAO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1. Controller Layer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10 REST Controllers parse HTTP requests, stream JSON envelopes, and deliver binary PDF reports via sendBinaryResponse().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 Socket Hangs: Explicit response termination on every branch.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468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2. Service &amp; DTO Layer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19 Request &amp; Response DTOs isolate database models from API contracts.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ConflictDetectionService, BudgetService, SimulationService, AvailabilityService, and PdfGenerator.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3. DAO Layer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DeveloperDAO, ProjectDAO, AllocationDAO, BudgetTransactionDAO manage pure JDBC transactions using PreparedStatement.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10561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10561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773168"/>
            <a:ext cx="10049256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Algorithmic Innovations &amp; Pure Java PDF Export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Daily Sweep-Line Interval Algorithm: Maps timeline boundaries in a TreeMap to compute exact peak concurrent workload %.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Zero-Dependency PDF 1.4 Generator: Generates standard binary PDF audit reports directly in memory with zero external libraries.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16. Database CRUD &amp; Parameterized SQL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PreparedStatement Security &amp; ACID Transactional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12064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Parameterized SQL for Injection Defense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All database interactions strictly utilize PreparedStatement with positional parameter placeholders (?).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User input is handled strictly as data literals, never as executable SQL commands.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Sample implementation: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  String sql = 'INSERT INTO allocations (developer_id, milestone_id, allocation_percentage) VALUES (?, ?, ?)';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  ps.setInt(1, devId);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  ps.setInt(2, milestoneId);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  ps.setInt(3, percentage);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  ps.executeUpdate();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Connection URL explicitly includes &amp;useUnicode=true&amp;characterEncoding=UTF-8 for seamless Rupee (₹) and em-dash rendering.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206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75688"/>
            <a:ext cx="460857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Transactional Integrity (ACID Compliance)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Atomicity: Multi-table operations commit fully or roll back completely on failure.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Consistency: Foreign key cascades (ON DELETE CASCADE) preserve complete referential integrity across all 14 tables.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Isolation: Standard READ COMMITTED transaction level prevents dirty reads.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Durability: Committed records are written immediately to persistent MySQL tables on disk.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17. Acceptance Criteria Verification &amp; Test Results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14/14 Automated Unit Test Cases Passing (100% Quality Pass)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613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94560"/>
                <a:gridCol w="2926080"/>
                <a:gridCol w="3154680"/>
                <a:gridCol w="1188720"/>
              </a:tblGrid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Feature Tested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Input Condition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Expected Behavior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Allocation Overlap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Jan 1-20 (60%) + Jan 10-25 (50%)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Flags CRITICAL alert (110% peak overlap on Jan 10-20)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Leave Conflict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Assign developer during planned 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Flags WARNING alert with substitute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Skill Gap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Assign dev without required skills to milestone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Flags WARNING with missing skill badges &amp;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Rolling Budget Burn-Down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30-day window transaction spend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Calculates daily burn rate &amp; runway days accurately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What-if Simulator &amp;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Simulate candidate swap &amp; download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Returns cost delta &amp; generates binary PDF 1.4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 Criteria (AC-01 to AC-10)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Full regression test suite via run_tests.bat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 14 unit test cases PASS across 5 test suites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14/14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18. Live Working Results &amp; Demonstration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Operational Metrics &amp; Downloadable Artifacts on http://localhost:8080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Managed Projects &amp; Budget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4 Live Projects Monitored: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Cloud Microservices Platform (Active, 70% budget utilized)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Enterprise AI Analytics Portal (Active, 35% budget utilized)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Healthcare Patient Portal API (Planned)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IoT Edge Telemetry Pipeline (Planned)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Total Capital: ₹23,50,000 across 14 tables.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Rolling 30-Day Burn Rate: ₹19,444.44/day.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4297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Live Conflicts &amp; Resolution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 Critical Over-Allocation: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Priya Sharma at 110% peak workload across Core Auth &amp; Cloud Infrastructure.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5 Warning Alerts: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Rahul Verma planned leave clash during Order Processing Pipeline.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Identified skill gaps for Python, AWS, Docker, and Security with resolution advice.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Simulation &amp; Instant Exports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What-if Simulator: Evaluates candidate swaps (e.g. Arun Kumar swap saving ₹16,000).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Binary PDF Report Export: Direct download from /api/simulations/{id}/report.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Excel Runbook Export: Direct download from /RUNBOOK.xlsx.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PowerPoint Presentation: Direct download from /Project_Resource_Allocation_System_Presentation.pptx.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1645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19. Future Enhancements &amp; Scalability Roadmap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Path Toward Enterprise AI &amp; Production 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156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AI Automated Staffing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Implement Genetic Algorithms or Machine Learning models to automatically suggest optimal developer assignments based on historical velocity and skill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Native Mobile Companion Apps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Develop Flutter or React Native mobile applications with push notifications for instant assignment alerts and one-tap leave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82549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Jira &amp; GitHub Integration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Bi-directional webhook synchronization to track actual developer hours logged against estimated effort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83480"/>
            <a:ext cx="10561320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983480"/>
            <a:ext cx="1056132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84648"/>
            <a:ext cx="10049256" cy="960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Cloud Containerization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Package the application into lightweight Docker containers for automated continuous integration and scalable deployment on AWS ECS or Kubernetes clusters.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566928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Segoe UI"/>
              </a:defRPr>
            </a:pPr>
            <a:r>
              <a:t>SATHYABAMA INSTITUTE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Conclusion &amp; Summary of Achievements</a:t>
            </a:r>
          </a:p>
          <a:p>
            <a:pPr>
              <a:spcBef>
                <a:spcPts val="600"/>
              </a:spcBef>
              <a:defRPr sz="1500">
                <a:solidFill>
                  <a:srgbClr val="4F46E5"/>
                </a:solidFill>
                <a:latin typeface="Segoe UI"/>
              </a:defRPr>
            </a:pPr>
            <a:r>
              <a:t>Successful Delivery of an Intelligent 3-Tier Resource Allocation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3337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310128"/>
            <a:ext cx="282549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100% Objectives Met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Built a complete 14-view full-stack application with zero framework bloat.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Decoupled DTO layer &amp; pure Java PDF 1.4 export.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Dual-portal workflows for managers and developers.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10896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3108960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3310128"/>
            <a:ext cx="282549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Algorithmic Rigor &amp; Quality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Daily sweep-line interval conflict detection.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Rolling 30-day budget burn-down forecaster.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14 out of 14 unit test cases passing (100%).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333756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3310128"/>
            <a:ext cx="282549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Defense &amp; Evaluation Ready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14 normalized tables in 3NF with utf8mb4 encoding.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1-click execution script (run.bat) &amp; test runner.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Excel Runbook and PDF reports ready for inspection.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46E5"/>
                </a:solidFill>
                <a:latin typeface="Segoe UI"/>
              </a:defRPr>
            </a:pPr>
            <a:r>
              <a:t>Thank you! We are now open for your Questions &amp; Viva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